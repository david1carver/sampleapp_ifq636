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Mesa — Restaurant Review Platform</a:t>
            </a:r>
          </a:p>
          <a:p>
            <a:pPr algn="l"/>
            <a:r>
              <a:rPr sz="2200" b="0" i="0">
                <a:solidFill>
                  <a:srgbClr val="CFDAE8"/>
                </a:solidFill>
                <a:latin typeface="Calibri"/>
              </a:rPr>
              <a:t>IFQ636 Software Lifecycle Management · Assignment 2</a:t>
            </a:r>
          </a:p>
          <a:p>
            <a:pPr algn="l"/>
            <a:r>
              <a:rPr sz="1800" b="1" i="0">
                <a:solidFill>
                  <a:srgbClr val="E06A1E"/>
                </a:solidFill>
                <a:latin typeface="Calibri"/>
              </a:rPr>
              <a:t>Live demo &amp;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David (Anrio) Carver · n11473215 · solo submission</a:t>
            </a:r>
          </a:p>
          <a:p>
            <a:pPr algn="l"/>
            <a:r>
              <a:rPr sz="1300" b="0" i="0">
                <a:solidFill>
                  <a:srgbClr val="CFDAE8"/>
                </a:solidFill>
                <a:latin typeface="Calibri"/>
              </a:rPr>
              <a:t>Live: http://3.27.208.40/   ·   github.com/david1carver/restaurant-review-platform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122A4A"/>
                </a:solidFill>
                <a:latin typeface="Calibri"/>
              </a:rPr>
              <a:t>10-minute plan — where to spend your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b="1" sz="1700">
                <a:solidFill>
                  <a:srgbClr val="E06A1E"/>
                </a:solidFill>
                <a:latin typeface="Consolas"/>
              </a:rPr>
              <a:t>0:00  </a:t>
            </a:r>
            <a:r>
              <a:rPr sz="1700">
                <a:solidFill>
                  <a:srgbClr val="122A4A"/>
                </a:solidFill>
              </a:rPr>
              <a:t>Intro (on camera)</a:t>
            </a:r>
            <a:r>
              <a:rPr sz="1300" b="1">
                <a:solidFill>
                  <a:srgbClr val="555555"/>
                </a:solidFill>
              </a:rPr>
              <a:t>   [talk]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E06A1E"/>
                </a:solidFill>
                <a:latin typeface="Consolas"/>
              </a:rPr>
              <a:t>0:40  </a:t>
            </a:r>
            <a:r>
              <a:rPr sz="1700">
                <a:solidFill>
                  <a:srgbClr val="122A4A"/>
                </a:solidFill>
              </a:rPr>
              <a:t>Live app demo — browse, login, review, notification</a:t>
            </a:r>
            <a:r>
              <a:rPr sz="1300" b="1">
                <a:solidFill>
                  <a:srgbClr val="1E7A35"/>
                </a:solidFill>
              </a:rPr>
              <a:t>   [LIVE]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E06A1E"/>
                </a:solidFill>
                <a:latin typeface="Consolas"/>
              </a:rPr>
              <a:t>2:20  </a:t>
            </a:r>
            <a:r>
              <a:rPr sz="1700">
                <a:solidFill>
                  <a:srgbClr val="122A4A"/>
                </a:solidFill>
              </a:rPr>
              <a:t>Design — Figma wireframes + prototype</a:t>
            </a:r>
            <a:r>
              <a:rPr sz="1300" b="1">
                <a:solidFill>
                  <a:srgbClr val="1E7A35"/>
                </a:solidFill>
              </a:rPr>
              <a:t>   [LIVE]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E06A1E"/>
                </a:solidFill>
                <a:latin typeface="Consolas"/>
              </a:rPr>
              <a:t>2:50  </a:t>
            </a:r>
            <a:r>
              <a:rPr sz="1700">
                <a:solidFill>
                  <a:srgbClr val="122A4A"/>
                </a:solidFill>
              </a:rPr>
              <a:t>Design patterns &amp; OOP — 8 patterns  ★ biggest weight (28 pts)</a:t>
            </a:r>
            <a:r>
              <a:rPr sz="1300" b="1">
                <a:solidFill>
                  <a:srgbClr val="555555"/>
                </a:solidFill>
              </a:rPr>
              <a:t>   [talk + code]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E06A1E"/>
                </a:solidFill>
                <a:latin typeface="Consolas"/>
              </a:rPr>
              <a:t>4:30  </a:t>
            </a:r>
            <a:r>
              <a:rPr sz="1700">
                <a:solidFill>
                  <a:srgbClr val="122A4A"/>
                </a:solidFill>
              </a:rPr>
              <a:t>Unit testing — 49 passing</a:t>
            </a:r>
            <a:r>
              <a:rPr sz="1300" b="1">
                <a:solidFill>
                  <a:srgbClr val="1E7A35"/>
                </a:solidFill>
              </a:rPr>
              <a:t>   [LIVE]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E06A1E"/>
                </a:solidFill>
                <a:latin typeface="Consolas"/>
              </a:rPr>
              <a:t>6:00  </a:t>
            </a:r>
            <a:r>
              <a:rPr sz="1700">
                <a:solidFill>
                  <a:srgbClr val="122A4A"/>
                </a:solidFill>
              </a:rPr>
              <a:t>API testing — Postman, error codes</a:t>
            </a:r>
            <a:r>
              <a:rPr sz="1300" b="1">
                <a:solidFill>
                  <a:srgbClr val="1E7A35"/>
                </a:solidFill>
              </a:rPr>
              <a:t>   [LIVE]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E06A1E"/>
                </a:solidFill>
                <a:latin typeface="Consolas"/>
              </a:rPr>
              <a:t>7:15  </a:t>
            </a:r>
            <a:r>
              <a:rPr sz="1700">
                <a:solidFill>
                  <a:srgbClr val="122A4A"/>
                </a:solidFill>
              </a:rPr>
              <a:t>CI/CD &amp; deployment — runner, pm2, live IP</a:t>
            </a:r>
            <a:r>
              <a:rPr sz="1300" b="1">
                <a:solidFill>
                  <a:srgbClr val="1E7A35"/>
                </a:solidFill>
              </a:rPr>
              <a:t>   [LIVE]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E06A1E"/>
                </a:solidFill>
                <a:latin typeface="Consolas"/>
              </a:rPr>
              <a:t>9:00  </a:t>
            </a:r>
            <a:r>
              <a:rPr sz="1700">
                <a:solidFill>
                  <a:srgbClr val="122A4A"/>
                </a:solidFill>
              </a:rPr>
              <a:t>GitHub workflow — branches, PRs, conflicts</a:t>
            </a:r>
            <a:r>
              <a:rPr sz="1300" b="1">
                <a:solidFill>
                  <a:srgbClr val="1E7A35"/>
                </a:solidFill>
              </a:rPr>
              <a:t>   [LIVE]</a:t>
            </a:r>
          </a:p>
          <a:p>
            <a:pPr>
              <a:spcAft>
                <a:spcPts val="700"/>
              </a:spcAft>
            </a:pPr>
            <a:r>
              <a:rPr b="1" sz="1700">
                <a:solidFill>
                  <a:srgbClr val="E06A1E"/>
                </a:solidFill>
                <a:latin typeface="Consolas"/>
              </a:rPr>
              <a:t>9:40  </a:t>
            </a:r>
            <a:r>
              <a:rPr sz="1700">
                <a:solidFill>
                  <a:srgbClr val="122A4A"/>
                </a:solidFill>
              </a:rPr>
              <a:t>Wrap</a:t>
            </a:r>
            <a:r>
              <a:rPr sz="1300" b="1">
                <a:solidFill>
                  <a:srgbClr val="555555"/>
                </a:solidFill>
              </a:rPr>
              <a:t>   [talk]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22A4A"/>
                </a:solidFill>
                <a:latin typeface="Calibri"/>
              </a:rPr>
              <a:t>1 · Intro</a:t>
            </a:r>
            <a:r>
              <a:rPr sz="1600" b="1">
                <a:solidFill>
                  <a:srgbClr val="E06A1E"/>
                </a:solidFill>
                <a:latin typeface="Consolas"/>
              </a:rPr>
              <a:t>   0:00–0:40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06A1E"/>
                </a:solidFill>
                <a:latin typeface="Calibri"/>
              </a:rPr>
              <a:t>SAY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“I’m David Carver. This is my IFQ636 A2 — Mesa, a Restaurant Review Platform.”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“I completed it solo — my allocated teammate withdrew from the unit, so all work shown is my own.”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“For A2 I added 8 design patterns, a Notifications feature, 49 unit tests, full API testing, and a live CI/CD deployment.”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 i="0">
                <a:solidFill>
                  <a:srgbClr val="1E7A35"/>
                </a:solidFill>
                <a:latin typeface="Calibri"/>
              </a:rPr>
              <a:t>SHOW (live on screen)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Your face on camera (required).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The live app loading at the public URL.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⚠ Camera ON for the whole video — academic-integrity requirement.</a:t>
            </a:r>
          </a:p>
        </p:txBody>
      </p:sp>
      <p:pic>
        <p:nvPicPr>
          <p:cNvPr id="5" name="Picture 4" descr="app-brow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486400" cy="3813381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22A4A"/>
                </a:solidFill>
                <a:latin typeface="Calibri"/>
              </a:rPr>
              <a:t>2 · Live application demo</a:t>
            </a:r>
            <a:r>
              <a:rPr sz="1600" b="1">
                <a:solidFill>
                  <a:srgbClr val="E06A1E"/>
                </a:solidFill>
                <a:latin typeface="Consolas"/>
              </a:rPr>
              <a:t>   0:40–2:20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06A1E"/>
                </a:solidFill>
                <a:latin typeface="Calibri"/>
              </a:rPr>
              <a:t>SAY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“Public catalogue — searchable, filterable by cuisine.”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“I log in as a diner and post a 5-star review.”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“One action, two effects: the rating updates (Observer) AND a notification appears in the bell.”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“A second review of the same place is rejected — one per diner. As admin I can moderate and manage restaurants.”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 i="0">
                <a:solidFill>
                  <a:srgbClr val="1E7A35"/>
                </a:solidFill>
                <a:latin typeface="Calibri"/>
              </a:rPr>
              <a:t>SHOW (live on screen)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Browse → login → post review → open notifications bell.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Try the duplicate review (rejected). Admin panel + moderation.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⚠ Keep EC2 running. If a 502 flashes, wait ~10s and refresh.</a:t>
            </a:r>
          </a:p>
        </p:txBody>
      </p:sp>
      <p:pic>
        <p:nvPicPr>
          <p:cNvPr id="5" name="Picture 4" descr="app-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753" y="1554480"/>
            <a:ext cx="5247613" cy="4754880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22A4A"/>
                </a:solidFill>
                <a:latin typeface="Calibri"/>
              </a:rPr>
              <a:t>3 · Design (Figma)</a:t>
            </a:r>
            <a:r>
              <a:rPr sz="1600" b="1">
                <a:solidFill>
                  <a:srgbClr val="E06A1E"/>
                </a:solidFill>
                <a:latin typeface="Consolas"/>
              </a:rPr>
              <a:t>   2:20–2:50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06A1E"/>
                </a:solidFill>
                <a:latin typeface="Calibri"/>
              </a:rPr>
              <a:t>SAY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“Before building, the UI was designed in Figma — low-fidelity wireframes and a high-fidelity prototype.”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“These cover the full diner and admin journeys.”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 i="0">
                <a:solidFill>
                  <a:srgbClr val="1E7A35"/>
                </a:solidFill>
                <a:latin typeface="Calibri"/>
              </a:rPr>
              <a:t>SHOW (live on screen)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Open the Figma file (or docs/A2/wireframes/).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Click through 2–3 screens to show the interactive prototype.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⚠ Part B requires the video to show your Figma design.</a:t>
            </a:r>
          </a:p>
        </p:txBody>
      </p:sp>
      <p:pic>
        <p:nvPicPr>
          <p:cNvPr id="5" name="Picture 4" descr="Screen1_Brow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486400" cy="3291839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22A4A"/>
                </a:solidFill>
                <a:latin typeface="Calibri"/>
              </a:rPr>
              <a:t>4 · Design patterns &amp; OOP</a:t>
            </a:r>
            <a:r>
              <a:rPr sz="1600" b="1">
                <a:solidFill>
                  <a:srgbClr val="E06A1E"/>
                </a:solidFill>
                <a:latin typeface="Consolas"/>
              </a:rPr>
              <a:t>   2:50–4:30</a:t>
            </a:r>
          </a:p>
          <a:p>
            <a:pPr algn="l"/>
            <a:r>
              <a:rPr sz="1400" b="1" i="0">
                <a:solidFill>
                  <a:srgbClr val="C00000"/>
                </a:solidFill>
                <a:latin typeface="Calibri"/>
              </a:rPr>
              <a:t>★ Highest-weighted criterion — slow down here (28 / 100)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06A1E"/>
                </a:solidFill>
                <a:latin typeface="Calibri"/>
              </a:rPr>
              <a:t>SAY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“Eight patterns — the rubric needs seven.”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“Singleton, Repository, Decorator (Proxy), Facade, Builder, Strategy, Factory, Observer.”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“Create-review path: controller → Service (Facade) → Repository (+Logging Decorator) → ReviewSubject notifies observers.”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“OOP: #private encapsulation; abstract SortStrategy throws if instantiated; polymorphic update()/toMongoSort().”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 i="0">
                <a:solidFill>
                  <a:srgbClr val="1E7A35"/>
                </a:solidFill>
                <a:latin typeface="Calibri"/>
              </a:rPr>
              <a:t>SHOW (live on screen)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The architecture diagram (patterns + request flow).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Open 2–3 files: ReviewSubject.js, ReviewService.js, SortStrategy.js — point at each pattern.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486400" cy="4114800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22A4A"/>
                </a:solidFill>
                <a:latin typeface="Calibri"/>
              </a:rPr>
              <a:t>5 · Unit testing</a:t>
            </a:r>
            <a:r>
              <a:rPr sz="1600" b="1">
                <a:solidFill>
                  <a:srgbClr val="E06A1E"/>
                </a:solidFill>
                <a:latin typeface="Consolas"/>
              </a:rPr>
              <a:t>   4:30–6:00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06A1E"/>
                </a:solidFill>
                <a:latin typeface="Calibri"/>
              </a:rPr>
              <a:t>SAY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“Mocha, Chai and Sinon — pure unit tests, no DB; Mongoose calls are stubbed.”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“npm test → 49 passing.”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“e.g. createReview returns 201 on success, 409 on a duplicate; a pattern test checks the Observer fans out.”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 i="0">
                <a:solidFill>
                  <a:srgbClr val="1E7A35"/>
                </a:solidFill>
                <a:latin typeface="Calibri"/>
              </a:rPr>
              <a:t>SHOW (live on screen)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Run npm test live (or show the 49-passing terminal).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Scroll the test-case matrix (TC ID / Expected / Actual).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⚠ HD wants coverage of create/update/delete/fetch — call them out as they pass.</a:t>
            </a:r>
          </a:p>
        </p:txBody>
      </p:sp>
      <p:pic>
        <p:nvPicPr>
          <p:cNvPr id="5" name="Picture 4" descr="npm-test-49-pa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943" y="1554480"/>
            <a:ext cx="2931233" cy="4754880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22A4A"/>
                </a:solidFill>
                <a:latin typeface="Calibri"/>
              </a:rPr>
              <a:t>6 · API testing (Postman)</a:t>
            </a:r>
            <a:r>
              <a:rPr sz="1600" b="1">
                <a:solidFill>
                  <a:srgbClr val="E06A1E"/>
                </a:solidFill>
                <a:latin typeface="Consolas"/>
              </a:rPr>
              <a:t>   6:00–7:15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06A1E"/>
                </a:solidFill>
                <a:latin typeface="Calibri"/>
              </a:rPr>
              <a:t>SAY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“Every endpoint tested with its error handling.”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“Login 200 + JWT; create review 201; duplicate 409.”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“No token 401; missing fields 400; diner creating a restaurant 403 (role guard).”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 i="0">
                <a:solidFill>
                  <a:srgbClr val="1E7A35"/>
                </a:solidFill>
                <a:latin typeface="Calibri"/>
              </a:rPr>
              <a:t>SHOW (live on screen)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Show the 409 duplicate, then the 403 role-guard response.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Mention the exported collection in docs/A2.</a:t>
            </a:r>
          </a:p>
        </p:txBody>
      </p:sp>
      <p:pic>
        <p:nvPicPr>
          <p:cNvPr id="5" name="Picture 4" descr="api_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486400" cy="3332343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22A4A"/>
                </a:solidFill>
                <a:latin typeface="Calibri"/>
              </a:rPr>
              <a:t>7 · CI/CD &amp; deployment</a:t>
            </a:r>
            <a:r>
              <a:rPr sz="1600" b="1">
                <a:solidFill>
                  <a:srgbClr val="E06A1E"/>
                </a:solidFill>
                <a:latin typeface="Consolas"/>
              </a:rPr>
              <a:t>   7:15–9:00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06A1E"/>
                </a:solidFill>
                <a:latin typeface="Calibri"/>
              </a:rPr>
              <a:t>SAY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“Deployment is automated by a GitHub Actions self-hosted runner on the EC2 instance.”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“Every push to main: install → build → test → write .env → restart under pm2.”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“nginx serves the build on port 80 and proxies /api to the backend.”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 i="0">
                <a:solidFill>
                  <a:srgbClr val="1E7A35"/>
                </a:solidFill>
                <a:latin typeface="Calibri"/>
              </a:rPr>
              <a:t>SHOW (live on screen)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ci.yml on GitHub (self-hosted), Actions tab green, Runner idle.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pm2 status (backend + Frontend online). Optionally push a change → green → refresh live site.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⚠ Confirm the live IP is current before recording — dead link = lost marks.</a:t>
            </a:r>
          </a:p>
        </p:txBody>
      </p:sp>
      <p:pic>
        <p:nvPicPr>
          <p:cNvPr id="5" name="Picture 4" descr="pm2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486400" cy="4666349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22A4A"/>
                </a:solidFill>
                <a:latin typeface="Calibri"/>
              </a:rPr>
              <a:t>8 · GitHub workflow</a:t>
            </a:r>
            <a:r>
              <a:rPr sz="1600" b="1">
                <a:solidFill>
                  <a:srgbClr val="E06A1E"/>
                </a:solidFill>
                <a:latin typeface="Consolas"/>
              </a:rPr>
              <a:t>   9:00–9:40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06A1E"/>
                </a:solidFill>
                <a:latin typeface="Calibri"/>
              </a:rPr>
              <a:t>SAY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“Feature-branch workflow — branches, pull requests, and two merge conflicts I resolved.”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“As my teammate withdrew, this is an individual demonstration of the workflow.”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 i="0">
                <a:solidFill>
                  <a:srgbClr val="1E7A35"/>
                </a:solidFill>
                <a:latin typeface="Calibri"/>
              </a:rPr>
              <a:t>SHOW (live on screen)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Insights → Contributors / Network, the branch list, a merged PR, a resolved-conflict commit.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⚠ Be honest: present as “I practised the full Git workflow myself,” not team collaboration.</a:t>
            </a:r>
          </a:p>
        </p:txBody>
      </p:sp>
      <p:pic>
        <p:nvPicPr>
          <p:cNvPr id="5" name="Picture 4" descr="ev_3_bra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486400" cy="3559034"/>
          </a:xfrm>
          <a:prstGeom prst="rect">
            <a:avLst/>
          </a:prstGeom>
          <a:ln w="9525">
            <a:solidFill>
              <a:srgbClr val="555555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122A4A"/>
                </a:solidFill>
                <a:latin typeface="Calibri"/>
              </a:rPr>
              <a:t>9 · Wrap</a:t>
            </a:r>
            <a:r>
              <a:rPr sz="1600" b="1">
                <a:solidFill>
                  <a:srgbClr val="E06A1E"/>
                </a:solidFill>
                <a:latin typeface="Consolas"/>
              </a:rPr>
              <a:t>   9:40–10:00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E06A1E"/>
                </a:solidFill>
                <a:latin typeface="Calibri"/>
              </a:rPr>
              <a:t>SAY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“An OOP, pattern-based backend; a Notifications feature; 49 unit tests; full API testing; a live auto-deployed app.”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•  “Thanks for watching.”</a:t>
            </a:r>
          </a:p>
          <a:p>
            <a:pPr algn="l"/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500" b="1" i="0">
                <a:solidFill>
                  <a:srgbClr val="1E7A35"/>
                </a:solidFill>
                <a:latin typeface="Calibri"/>
              </a:rPr>
              <a:t>SHOW (live on screen)</a:t>
            </a:r>
          </a:p>
          <a:p>
            <a:pPr algn="l"/>
            <a:r>
              <a:rPr sz="1500" b="0" i="0">
                <a:solidFill>
                  <a:srgbClr val="122A4A"/>
                </a:solidFill>
                <a:latin typeface="Calibri"/>
              </a:rPr>
              <a:t>▶  Back on camera. End on the live app or the architecture diagram.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122A4A"/>
                </a:solidFill>
                <a:latin typeface="Calibri"/>
              </a:rPr>
              <a:t>Where the marks are — focus your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</a:pPr>
            <a:r>
              <a:rPr b="1" sz="1900">
                <a:solidFill>
                  <a:srgbClr val="122A4A"/>
                </a:solidFill>
                <a:latin typeface="Consolas"/>
              </a:rPr>
              <a:t>28 pts   </a:t>
            </a:r>
            <a:r>
              <a:rPr sz="1900" b="1">
                <a:solidFill>
                  <a:srgbClr val="122A4A"/>
                </a:solidFill>
              </a:rPr>
              <a:t>Design patterns &amp; OOP</a:t>
            </a:r>
            <a:r>
              <a:rPr sz="1500">
                <a:solidFill>
                  <a:srgbClr val="1E7A35"/>
                </a:solidFill>
              </a:rPr>
              <a:t>   — ★ Spend the most time. Show code live.</a:t>
            </a:r>
          </a:p>
          <a:p>
            <a:pPr>
              <a:spcAft>
                <a:spcPts val="900"/>
              </a:spcAft>
            </a:pPr>
            <a:r>
              <a:rPr b="1" sz="1900">
                <a:solidFill>
                  <a:srgbClr val="122A4A"/>
                </a:solidFill>
                <a:latin typeface="Consolas"/>
              </a:rPr>
              <a:t>16 pts   </a:t>
            </a:r>
            <a:r>
              <a:rPr sz="1900" b="1">
                <a:solidFill>
                  <a:srgbClr val="122A4A"/>
                </a:solidFill>
              </a:rPr>
              <a:t>README / report / reflection</a:t>
            </a:r>
            <a:r>
              <a:rPr sz="1500">
                <a:solidFill>
                  <a:srgbClr val="1E7A35"/>
                </a:solidFill>
              </a:rPr>
              <a:t>   — Video polish counts here.</a:t>
            </a:r>
          </a:p>
          <a:p>
            <a:pPr>
              <a:spcAft>
                <a:spcPts val="900"/>
              </a:spcAft>
            </a:pPr>
            <a:r>
              <a:rPr b="1" sz="1900">
                <a:solidFill>
                  <a:srgbClr val="122A4A"/>
                </a:solidFill>
                <a:latin typeface="Consolas"/>
              </a:rPr>
              <a:t>12 pts   </a:t>
            </a:r>
            <a:r>
              <a:rPr sz="1900" b="1">
                <a:solidFill>
                  <a:srgbClr val="122A4A"/>
                </a:solidFill>
              </a:rPr>
              <a:t>API testing</a:t>
            </a:r>
            <a:r>
              <a:rPr sz="1500">
                <a:solidFill>
                  <a:srgbClr val="1E7A35"/>
                </a:solidFill>
              </a:rPr>
              <a:t>   — Show error codes.</a:t>
            </a:r>
          </a:p>
          <a:p>
            <a:pPr>
              <a:spcAft>
                <a:spcPts val="900"/>
              </a:spcAft>
            </a:pPr>
            <a:r>
              <a:rPr b="1" sz="1900">
                <a:solidFill>
                  <a:srgbClr val="122A4A"/>
                </a:solidFill>
                <a:latin typeface="Consolas"/>
              </a:rPr>
              <a:t>12 pts   </a:t>
            </a:r>
            <a:r>
              <a:rPr sz="1900" b="1">
                <a:solidFill>
                  <a:srgbClr val="122A4A"/>
                </a:solidFill>
              </a:rPr>
              <a:t>Unit testing</a:t>
            </a:r>
            <a:r>
              <a:rPr sz="1500">
                <a:solidFill>
                  <a:srgbClr val="E06A1E"/>
                </a:solidFill>
              </a:rPr>
              <a:t>   — Call out create/update/delete/fetch.</a:t>
            </a:r>
          </a:p>
          <a:p>
            <a:pPr>
              <a:spcAft>
                <a:spcPts val="900"/>
              </a:spcAft>
            </a:pPr>
            <a:r>
              <a:rPr b="1" sz="1900">
                <a:solidFill>
                  <a:srgbClr val="122A4A"/>
                </a:solidFill>
                <a:latin typeface="Consolas"/>
              </a:rPr>
              <a:t>12 pts   </a:t>
            </a:r>
            <a:r>
              <a:rPr sz="1900" b="1">
                <a:solidFill>
                  <a:srgbClr val="122A4A"/>
                </a:solidFill>
              </a:rPr>
              <a:t>CI/CD pipeline</a:t>
            </a:r>
            <a:r>
              <a:rPr sz="1500">
                <a:solidFill>
                  <a:srgbClr val="1E7A35"/>
                </a:solidFill>
              </a:rPr>
              <a:t>   — Live URL + pm2 online.</a:t>
            </a:r>
          </a:p>
          <a:p>
            <a:pPr>
              <a:spcAft>
                <a:spcPts val="900"/>
              </a:spcAft>
            </a:pPr>
            <a:r>
              <a:rPr b="1" sz="1900">
                <a:solidFill>
                  <a:srgbClr val="122A4A"/>
                </a:solidFill>
                <a:latin typeface="Consolas"/>
              </a:rPr>
              <a:t>10 pts   </a:t>
            </a:r>
            <a:r>
              <a:rPr sz="1900" b="1">
                <a:solidFill>
                  <a:srgbClr val="122A4A"/>
                </a:solidFill>
              </a:rPr>
              <a:t>SRS documentation</a:t>
            </a:r>
            <a:r>
              <a:rPr sz="1500">
                <a:solidFill>
                  <a:srgbClr val="555555"/>
                </a:solidFill>
              </a:rPr>
              <a:t>   — Covered in report; mention briefly.</a:t>
            </a:r>
          </a:p>
          <a:p>
            <a:pPr>
              <a:spcAft>
                <a:spcPts val="900"/>
              </a:spcAft>
            </a:pPr>
            <a:r>
              <a:rPr b="1" sz="1900">
                <a:solidFill>
                  <a:srgbClr val="122A4A"/>
                </a:solidFill>
                <a:latin typeface="Consolas"/>
              </a:rPr>
              <a:t>10 pts   </a:t>
            </a:r>
            <a:r>
              <a:rPr sz="1900" b="1">
                <a:solidFill>
                  <a:srgbClr val="122A4A"/>
                </a:solidFill>
              </a:rPr>
              <a:t>Team collaboration</a:t>
            </a:r>
            <a:r>
              <a:rPr sz="1500">
                <a:solidFill>
                  <a:srgbClr val="C00000"/>
                </a:solidFill>
              </a:rPr>
              <a:t>   — Solo-capped — be honest, keep it short.</a:t>
            </a:r>
          </a:p>
          <a:p>
            <a:pPr algn="l"/>
            <a:r>
              <a:rPr sz="1600" b="1" i="0">
                <a:solidFill>
                  <a:srgbClr val="E06A1E"/>
                </a:solidFill>
                <a:latin typeface="Calibri"/>
              </a:rPr>
              <a:t>Projected ≈ 88/100 (High Distinction). The video and a live IP protect this mark.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